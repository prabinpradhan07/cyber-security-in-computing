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Funnel Sans" panose="020B0604020202020204" charset="0"/>
      <p:regular r:id="rId15"/>
    </p:embeddedFont>
    <p:embeddedFont>
      <p:font typeface="Mona Sans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943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Introduction of Cryptography</a:t>
            </a:r>
            <a:endParaRPr lang="en-US" sz="44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4E175-054C-654F-26DC-CB0A83757612}"/>
              </a:ext>
            </a:extLst>
          </p:cNvPr>
          <p:cNvSpPr txBox="1"/>
          <p:nvPr/>
        </p:nvSpPr>
        <p:spPr>
          <a:xfrm>
            <a:off x="7639665" y="4733151"/>
            <a:ext cx="53287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ona Sans Semi Bold" panose="020B0604020202020204" charset="0"/>
              </a:rPr>
              <a:t>Presented by Prabin Pradhan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6395"/>
            <a:ext cx="558546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1.1 What is Cryptography?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65699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Cryptography is the practice and study of techniques for secure communication, using mathematical algorithms to scramble readable data (plaintext) into unreadable code (ciphertext) so only authorized parties with a key can decrypt it, ensuring confidentiality, integrity, authentication.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4000857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423529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4422338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5142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Confidentiality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63296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Keeping information private from unauthorized access.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216962" y="4000857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423529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4422338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5142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Integrity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563296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Ensuring data has not been altered or tampered with.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640133" y="4000857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423529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4422338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5142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563296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Verifying the identity of users or systems.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59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1.2 Encryption: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531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The process of converting plaintext data into ciphertext with a secret code is known as encryption. A secret key or keys is used for encrypting process.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7341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There are two type of traditional encryption methods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79019"/>
            <a:ext cx="368165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Symmetric Encryption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23112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Symmetric encryption means using single key for encryption and decryption. This method is generally faster but requires secure key exchange.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3579019"/>
            <a:ext cx="388131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Asymmetric Encryption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423112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Asymmetric encryption is also called public key encryption. In this method two keys is  used public key for encryption and a private key for decryption. 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86406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1.3 Decryption:</a:t>
            </a:r>
            <a:endParaRPr lang="en-US" sz="3550" dirty="0"/>
          </a:p>
        </p:txBody>
      </p:sp>
      <p:sp>
        <p:nvSpPr>
          <p:cNvPr id="10" name="Text 8"/>
          <p:cNvSpPr/>
          <p:nvPr/>
        </p:nvSpPr>
        <p:spPr>
          <a:xfrm>
            <a:off x="793790" y="677120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The process of converting ciphertext into the original plaintext is known as decryption. A secret key or keys is used to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accomplish decrypting process. It guarantees that data integrity has not been compromised during transmission.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4393"/>
            <a:ext cx="554426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 Origin and Background: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749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From ancient civilizations to the digital age, cryptography has evolved to meet the demands of secure communication.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5115520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</p:sp>
      <p:sp>
        <p:nvSpPr>
          <p:cNvPr id="5" name="Shape 3"/>
          <p:cNvSpPr/>
          <p:nvPr/>
        </p:nvSpPr>
        <p:spPr>
          <a:xfrm>
            <a:off x="3968353" y="4661892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</p:sp>
      <p:sp>
        <p:nvSpPr>
          <p:cNvPr id="6" name="Shape 4"/>
          <p:cNvSpPr/>
          <p:nvPr/>
        </p:nvSpPr>
        <p:spPr>
          <a:xfrm>
            <a:off x="3898583" y="5030510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565916" y="24930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Ancient 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2983468"/>
            <a:ext cx="59259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Early methods like Egyptian hieroglyphs, the Greek scytale, and the Roman Caesar Shift Cipher focused on concealing messages in 1900 B.C.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299841" y="5115520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</p:sp>
      <p:sp>
        <p:nvSpPr>
          <p:cNvPr id="10" name="Shape 8"/>
          <p:cNvSpPr/>
          <p:nvPr/>
        </p:nvSpPr>
        <p:spPr>
          <a:xfrm>
            <a:off x="7230070" y="5030510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897523" y="57959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Modern Age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52092" y="6286381"/>
            <a:ext cx="592609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Cryptography expanded to include authentication and integrity, innovation algorithms like AES, DES, and RSA that form the backbone of today's secure digital systems.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631448" y="4661892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61677" y="5030510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229130" y="24930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Middle Age 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83698" y="2983468"/>
            <a:ext cx="592609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Arab cryptographers developed frequency analysis around 1000 C.E., revealing weaknesses in monoalphabetic ciphers and start involving a combination of substitution alphabets rather than only one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5144" y="453985"/>
            <a:ext cx="9131498" cy="51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 Analysis of Specific Cryptography 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105144" y="1034534"/>
            <a:ext cx="4349115" cy="411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3.1  </a:t>
            </a:r>
            <a:r>
              <a:rPr lang="en-US" sz="2550" dirty="0" err="1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Vigenere</a:t>
            </a:r>
            <a:r>
              <a:rPr lang="en-US" sz="2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Origin and Background: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144" y="1878568"/>
            <a:ext cx="3944660" cy="52999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5144" y="7363778"/>
            <a:ext cx="5550098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064818" y="1841540"/>
            <a:ext cx="4467820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750" b="1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Origin: </a:t>
            </a:r>
            <a:r>
              <a:rPr lang="en-US" sz="17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At First Algorithm</a:t>
            </a:r>
            <a:r>
              <a:rPr lang="en-US" sz="175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is </a:t>
            </a: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described by Giovan Pietro battista Bellaso in his book La Cifra del Sig in 1553.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064818" y="2887861"/>
            <a:ext cx="4467820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750" b="1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Vigenere:</a:t>
            </a: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Later on in the 19th century, the creation of the Bellaso cipher was incorrectly attributed to Vigenere by the court of henry III of France in 1586.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34020" y="407908"/>
            <a:ext cx="4073485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3.2 What is Vigenere Cipher?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2634020" y="1073825"/>
            <a:ext cx="9362242" cy="88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Vigenere cipher is a way of encrypting alphabetic texts using a sequence of different Caesar cipher Shifts, each based on the letter of a keyword. Substitution cipher rules based on the shifts of the Caesar cipher that are 0 through 25.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634020" y="2183725"/>
            <a:ext cx="7574994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3.3 Traditional Encryption Process </a:t>
            </a:r>
            <a:r>
              <a:rPr lang="en-US" sz="2300" dirty="0" err="1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Vigenere</a:t>
            </a:r>
            <a:r>
              <a:rPr lang="en-US" sz="2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Algorithm: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634020" y="2775585"/>
            <a:ext cx="9362242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Ci = E( Pi + Ki)mod26 (Encryption Formula)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34020" y="3178731"/>
            <a:ext cx="93622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Where Ci is the ciphertext.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34020" y="3641169"/>
            <a:ext cx="93622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Pi is the plaintext character.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34020" y="4103608"/>
            <a:ext cx="93622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Ki is the key.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34020" y="4566047"/>
            <a:ext cx="93622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E is the encryption.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4020" y="5083969"/>
            <a:ext cx="7768590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3.4 Traditional Decryption Process Vigenere Algorithm: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634020" y="5675828"/>
            <a:ext cx="93622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Pi = D(Ci − Ki) mod26 (Decryption Formula)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34020" y="6138267"/>
            <a:ext cx="93622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Where Ci is the ciphertext.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34020" y="6600706"/>
            <a:ext cx="93622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Pi is the plaintext character.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34020" y="7063145"/>
            <a:ext cx="93622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Ki is the key.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34020" y="7525583"/>
            <a:ext cx="936224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D is the decryption.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4307"/>
            <a:ext cx="1102304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3.5 Weaknesses of the Traditional Vigenère Cipher: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094911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094911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352205"/>
            <a:ext cx="40184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Repeating nature of Keyword.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548" y="3094911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98067" y="3094911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7282" y="3352205"/>
            <a:ext cx="47424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Vulnerable to Kasiski Examination.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190643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310" y="4190643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42524" y="4447937"/>
            <a:ext cx="52016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Limited Uppercase Alphabetic Letters.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28548" y="4190643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8067" y="4190643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7282" y="4447937"/>
            <a:ext cx="34426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Short &amp; Predictable Keys.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93790" y="5286375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5286375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5543669"/>
            <a:ext cx="53851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 uses of Symbol or Special character.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28548" y="5286375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8067" y="5286375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7282" y="5543669"/>
            <a:ext cx="33843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Similar to Caesar Cipher.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89014"/>
            <a:ext cx="1055465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4 Developing Phase of Modified Vigenere Cipher: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609618"/>
            <a:ext cx="4196358" cy="2030849"/>
          </a:xfrm>
          <a:prstGeom prst="roundRect">
            <a:avLst>
              <a:gd name="adj" fmla="val 469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844052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 of ASCII Values Alphabets Table.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68880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09618"/>
            <a:ext cx="4196358" cy="2030849"/>
          </a:xfrm>
          <a:prstGeom prst="roundRect">
            <a:avLst>
              <a:gd name="adj" fmla="val 469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844052"/>
            <a:ext cx="372749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Adding Symbols, Special character or Numbers in keywords.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504313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09618"/>
            <a:ext cx="4196358" cy="2030849"/>
          </a:xfrm>
          <a:prstGeom prst="roundRect">
            <a:avLst>
              <a:gd name="adj" fmla="val 469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844052"/>
            <a:ext cx="30453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 of XOR Operation.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433447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97218"/>
            <a:ext cx="11326297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4.1 Encryption Process of Modified Vigenere Algorithm: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0095" y="1574483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Ci = E(Pi XOR Key) (Encryption Formula)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0095" y="2166223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Ci is Ciphertext. 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0095" y="2757964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Pi is the plaintext character.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0095" y="3349704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XOR is Operator.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0095" y="3941445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Ki is the key and E is the encryption.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0095" y="4533186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By introducing ASCII values and the XOR operation, the encryption and decryption processes become more secure.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0095" y="5124926"/>
            <a:ext cx="13110210" cy="2507933"/>
          </a:xfrm>
          <a:prstGeom prst="roundRect">
            <a:avLst>
              <a:gd name="adj" fmla="val 363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7715" y="5132546"/>
            <a:ext cx="13094970" cy="62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85361" y="5270421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Plaintext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08070" y="5270421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Keyword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26969" y="5270421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45868" y="5270421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Decimal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64766" y="5270421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Hexadecimal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7715" y="5755719"/>
            <a:ext cx="13094970" cy="623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85361" y="5893594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 = 01000011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08070" y="5893594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 = 01000011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26969" y="5893594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00000000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45868" y="5893594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464766" y="5893594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67715" y="6378893"/>
            <a:ext cx="13094970" cy="62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85361" y="6516767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 = 01101111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608070" y="6516767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 = 01111001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26969" y="6516767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00010110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845868" y="6516767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464766" y="6516767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16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67715" y="7002066"/>
            <a:ext cx="13094970" cy="623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85361" y="7139940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 = 01101101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608070" y="7139940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 = 01100010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226969" y="7139940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00001111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845868" y="7139940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1464766" y="7139940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0F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97218"/>
            <a:ext cx="1148143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4.2 Decryption Process of Modified Vigenere Algorithm: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0095" y="1574483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Pi = D(Ci XOR Ki) (Decryption Formula)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0095" y="2166223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Pi is the plaintext character.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0095" y="2757964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 is Ciphertext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0095" y="3349704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XOR is Operator.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0095" y="3941445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Ki is the key.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0095" y="4533186"/>
            <a:ext cx="131102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D is the Decryption</a:t>
            </a: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0095" y="5124926"/>
            <a:ext cx="13110210" cy="2507933"/>
          </a:xfrm>
          <a:prstGeom prst="roundRect">
            <a:avLst>
              <a:gd name="adj" fmla="val 363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7715" y="5132546"/>
            <a:ext cx="13094970" cy="62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85361" y="5270421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Keyword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08070" y="5270421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Ciphertext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26969" y="5270421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45868" y="5270421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Decimal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64766" y="5270421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Plaintext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7715" y="5755719"/>
            <a:ext cx="13094970" cy="623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85361" y="5893594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 = 01000011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08070" y="5893594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00000000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26969" y="5893594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01000011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45868" y="5893594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67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464766" y="5893594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67715" y="6378893"/>
            <a:ext cx="13094970" cy="62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85361" y="6516767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 = 01111001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608070" y="6516767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00010110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26969" y="6516767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01101111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845868" y="6516767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111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464766" y="6516767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67715" y="7002066"/>
            <a:ext cx="13094970" cy="623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85361" y="7139940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 = 01100010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608070" y="7139940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00001111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226969" y="7139940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01101101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845868" y="7139940"/>
            <a:ext cx="21769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109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1464766" y="7139940"/>
            <a:ext cx="218074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5961" y="591860"/>
            <a:ext cx="4220766" cy="52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5 Evaluation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975961" y="1186934"/>
            <a:ext cx="7073979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5.1 Advantages of Modified Vigenere Cipher: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1975961" y="1862257"/>
            <a:ext cx="5254823" cy="1343739"/>
          </a:xfrm>
          <a:prstGeom prst="roundRect">
            <a:avLst>
              <a:gd name="adj" fmla="val 5277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618" y="1783913"/>
            <a:ext cx="202525" cy="20252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603" y="3081814"/>
            <a:ext cx="202525" cy="202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52067" y="2138363"/>
            <a:ext cx="4702612" cy="791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Modified Vigenere algorithm supports alphabets, numbers, symbol and special character.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7399615" y="1862257"/>
            <a:ext cx="5254823" cy="1343739"/>
          </a:xfrm>
          <a:prstGeom prst="roundRect">
            <a:avLst>
              <a:gd name="adj" fmla="val 5277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72" y="1783913"/>
            <a:ext cx="202525" cy="20252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0257" y="3081814"/>
            <a:ext cx="202525" cy="2025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75721" y="2138363"/>
            <a:ext cx="4702612" cy="527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Modified Vigenere algorithm is based on ASCII values table having 0-to-255 character codes.</a:t>
            </a:r>
            <a:endParaRPr lang="en-US" sz="1650" dirty="0"/>
          </a:p>
        </p:txBody>
      </p:sp>
      <p:sp>
        <p:nvSpPr>
          <p:cNvPr id="12" name="Shape 6"/>
          <p:cNvSpPr/>
          <p:nvPr/>
        </p:nvSpPr>
        <p:spPr>
          <a:xfrm>
            <a:off x="1975961" y="3374827"/>
            <a:ext cx="5254823" cy="1343739"/>
          </a:xfrm>
          <a:prstGeom prst="roundRect">
            <a:avLst>
              <a:gd name="adj" fmla="val 5277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618" y="3296483"/>
            <a:ext cx="202525" cy="20252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603" y="4594384"/>
            <a:ext cx="202525" cy="2025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252067" y="3650933"/>
            <a:ext cx="4702612" cy="791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Modified Vigenere algorithm also include XOR operation for enhancing security of encryption as well as decryption.</a:t>
            </a:r>
            <a:endParaRPr lang="en-US" sz="1650" dirty="0"/>
          </a:p>
        </p:txBody>
      </p:sp>
      <p:sp>
        <p:nvSpPr>
          <p:cNvPr id="16" name="Shape 8"/>
          <p:cNvSpPr/>
          <p:nvPr/>
        </p:nvSpPr>
        <p:spPr>
          <a:xfrm>
            <a:off x="7399615" y="3374827"/>
            <a:ext cx="5254823" cy="1343739"/>
          </a:xfrm>
          <a:prstGeom prst="roundRect">
            <a:avLst>
              <a:gd name="adj" fmla="val 5277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72" y="3296483"/>
            <a:ext cx="202525" cy="20252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0257" y="4594384"/>
            <a:ext cx="202525" cy="20252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675721" y="3650933"/>
            <a:ext cx="4702612" cy="791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Modified Vigenere algorithm works on increasing randomness number of encrypting ciphertext.</a:t>
            </a:r>
            <a:endParaRPr lang="en-US" sz="1650" dirty="0"/>
          </a:p>
        </p:txBody>
      </p:sp>
      <p:sp>
        <p:nvSpPr>
          <p:cNvPr id="20" name="Text 10"/>
          <p:cNvSpPr/>
          <p:nvPr/>
        </p:nvSpPr>
        <p:spPr>
          <a:xfrm>
            <a:off x="1975961" y="4908471"/>
            <a:ext cx="1067847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21" name="Text 11"/>
          <p:cNvSpPr/>
          <p:nvPr/>
        </p:nvSpPr>
        <p:spPr>
          <a:xfrm>
            <a:off x="1975961" y="5431750"/>
            <a:ext cx="7477006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5.2 Disadvantage of Modified Vigenere Cipher:</a:t>
            </a:r>
            <a:endParaRPr lang="en-US" sz="2650" dirty="0"/>
          </a:p>
        </p:txBody>
      </p:sp>
      <p:sp>
        <p:nvSpPr>
          <p:cNvPr id="22" name="Shape 12"/>
          <p:cNvSpPr/>
          <p:nvPr/>
        </p:nvSpPr>
        <p:spPr>
          <a:xfrm>
            <a:off x="1975961" y="6107073"/>
            <a:ext cx="10678478" cy="1530668"/>
          </a:xfrm>
          <a:prstGeom prst="roundRect">
            <a:avLst>
              <a:gd name="adj" fmla="val 463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1983581" y="6114693"/>
            <a:ext cx="10663237" cy="7577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14"/>
          <p:cNvSpPr/>
          <p:nvPr/>
        </p:nvSpPr>
        <p:spPr>
          <a:xfrm>
            <a:off x="2152412" y="6223516"/>
            <a:ext cx="499014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Modified Vigenere algorithm still done in symmetric key.</a:t>
            </a:r>
            <a:endParaRPr lang="en-US" sz="1450" dirty="0"/>
          </a:p>
        </p:txBody>
      </p:sp>
      <p:sp>
        <p:nvSpPr>
          <p:cNvPr id="25" name="Text 15"/>
          <p:cNvSpPr/>
          <p:nvPr/>
        </p:nvSpPr>
        <p:spPr>
          <a:xfrm>
            <a:off x="7487841" y="6223516"/>
            <a:ext cx="4990148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Modified Vigenere algorithm is not safer than other algorithm like AES, RSA and SDES.</a:t>
            </a:r>
            <a:endParaRPr lang="en-US" sz="1450" dirty="0"/>
          </a:p>
        </p:txBody>
      </p:sp>
      <p:sp>
        <p:nvSpPr>
          <p:cNvPr id="26" name="Shape 16"/>
          <p:cNvSpPr/>
          <p:nvPr/>
        </p:nvSpPr>
        <p:spPr>
          <a:xfrm>
            <a:off x="1983581" y="6872407"/>
            <a:ext cx="10663237" cy="9476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17"/>
          <p:cNvSpPr/>
          <p:nvPr/>
        </p:nvSpPr>
        <p:spPr>
          <a:xfrm>
            <a:off x="2152412" y="6981230"/>
            <a:ext cx="4990148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Modified </a:t>
            </a:r>
            <a:r>
              <a:rPr lang="en-US" sz="1450" dirty="0" err="1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Vigenere</a:t>
            </a: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encrypting process is done through ASCII table, maybe its vulnerable to modern cryptanalytic.</a:t>
            </a:r>
            <a:endParaRPr lang="en-US" sz="1450" dirty="0"/>
          </a:p>
        </p:txBody>
      </p:sp>
      <p:sp>
        <p:nvSpPr>
          <p:cNvPr id="28" name="Text 18"/>
          <p:cNvSpPr/>
          <p:nvPr/>
        </p:nvSpPr>
        <p:spPr>
          <a:xfrm>
            <a:off x="7487841" y="6981230"/>
            <a:ext cx="4990148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Modified Vigenere algorithm still have keywords repetition problem.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71139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                                               End.</a:t>
            </a:r>
            <a:endParaRPr lang="en-US" sz="4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906</Words>
  <Application>Microsoft Office PowerPoint</Application>
  <PresentationFormat>Custom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Mona Sans Semi Bold</vt:lpstr>
      <vt:lpstr>Funnel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Prabin Pradhan</cp:lastModifiedBy>
  <cp:revision>11</cp:revision>
  <dcterms:created xsi:type="dcterms:W3CDTF">2026-01-23T10:08:57Z</dcterms:created>
  <dcterms:modified xsi:type="dcterms:W3CDTF">2026-01-26T04:08:51Z</dcterms:modified>
</cp:coreProperties>
</file>